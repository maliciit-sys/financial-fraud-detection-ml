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EC526DF-823B-41C8-AB5B-16778A83960A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A49F83B-9975-4D42-A49F-852360DE371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527173E-9C14-4E31-A78D-63A0AD06271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D38D899-5055-4A0B-89C4-5B1B974AF0C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0540E99-9360-4EDE-8867-5A4D080445F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0B4BFBD-1B29-4DA0-9381-2CD2C35D2F0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BD2B283-54A8-4DC0-BAF1-B91E9CE8C2A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747A705-8CE8-4F69-8A64-CF190B9D655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D97EC9-CFEA-495A-A483-662C4E44A0C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B85379F-210E-45E4-BCB6-9F4780FBA23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C9860FA-F88A-4A9B-BDD8-F8FAEF1E02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E2837C-B2EC-478F-8BDF-64933FDDE1A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C188E66-B45B-4B6D-9E9F-848807F0F74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E390F26-AA7C-486F-A848-17822194DAF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671CAC3-981F-44F3-B34E-BD2E06C17E2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D8FAF7A-4081-441B-B804-4E94A2FB22D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2c5282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457200" y="1371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3182ce"/>
                </a:solidFill>
                <a:latin typeface="Arial"/>
                <a:ea typeface="Arial"/>
              </a:rPr>
              <a:t>MS DATA SCIENCE PROJECT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57200" y="18288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"/>
                <a:ea typeface="Arial"/>
              </a:rPr>
              <a:t>Detection of Financial Crimes Leveraging Artificial Intelligence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457200" y="260604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a0aec0"/>
                </a:solidFill>
                <a:latin typeface="Arial"/>
                <a:ea typeface="Arial"/>
              </a:rPr>
              <a:t>Credit Card Fraud Detection Using Neural Networks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3931920" y="3200400"/>
            <a:ext cx="1279800" cy="5436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6"/>
          <p:cNvSpPr/>
          <p:nvPr/>
        </p:nvSpPr>
        <p:spPr>
          <a:xfrm>
            <a:off x="457200" y="3566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Muhammad Ali Tahir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457200" y="3931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0aec0"/>
                </a:solidFill>
                <a:latin typeface="Arial"/>
                <a:ea typeface="Arial"/>
              </a:rPr>
              <a:t>SU92-MSDSW-F25-004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457200" y="4297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0aec0"/>
                </a:solidFill>
                <a:latin typeface="Arial"/>
                <a:ea typeface="Arial"/>
              </a:rPr>
              <a:t>Supervisor: Mr. Talha Nadeem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457200" y="46634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718096"/>
                </a:solidFill>
                <a:latin typeface="Arial"/>
                <a:ea typeface="Arial"/>
              </a:rPr>
              <a:t>Superior University, Lahore | January 2026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1"/>
          <p:cNvSpPr/>
          <p:nvPr/>
        </p:nvSpPr>
        <p:spPr>
          <a:xfrm>
            <a:off x="457200" y="2286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"/>
                <a:ea typeface="Arial"/>
              </a:rPr>
              <a:t>1. Introduction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457200" y="109728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53e3e"/>
                </a:solidFill>
                <a:latin typeface="Arial"/>
                <a:ea typeface="Arial"/>
              </a:rPr>
              <a:t>The Problem: </a:t>
            </a: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Global card fraud losses reached </a:t>
            </a:r>
            <a:r>
              <a:rPr b="1" lang="en-US" sz="1300" spc="-1" strike="noStrike">
                <a:solidFill>
                  <a:srgbClr val="e53e3e"/>
                </a:solidFill>
                <a:latin typeface="Arial"/>
                <a:ea typeface="Arial"/>
              </a:rPr>
              <a:t>$32.34 billion</a:t>
            </a: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 in 2023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457200" y="169164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6ad55"/>
                </a:solidFill>
                <a:latin typeface="Arial"/>
                <a:ea typeface="Arial"/>
              </a:rPr>
              <a:t>The Challenge: </a:t>
            </a: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Extreme class imbalance with </a:t>
            </a:r>
            <a:r>
              <a:rPr b="1" lang="en-US" sz="1300" spc="-1" strike="noStrike">
                <a:solidFill>
                  <a:srgbClr val="f6ad55"/>
                </a:solidFill>
                <a:latin typeface="Arial"/>
                <a:ea typeface="Arial"/>
              </a:rPr>
              <a:t>1:172</a:t>
            </a: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 fraud-to-legitimate ratio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457200" y="2286000"/>
            <a:ext cx="4114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182ce"/>
                </a:solidFill>
                <a:latin typeface="Arial"/>
                <a:ea typeface="Arial"/>
              </a:rPr>
              <a:t>The Gap: </a:t>
            </a: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Most datasets use anonymized features (V1...V28), preventing interpretation of fraud patterns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457200" y="2926080"/>
            <a:ext cx="4114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Our Solution: </a:t>
            </a: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Deep learning on </a:t>
            </a: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interpretable features</a:t>
            </a:r>
            <a:r>
              <a:rPr b="0" lang="en-US" sz="1300" spc="-1" strike="noStrike">
                <a:solidFill>
                  <a:srgbClr val="4a5568"/>
                </a:solidFill>
                <a:latin typeface="Arial"/>
                <a:ea typeface="Arial"/>
              </a:rPr>
              <a:t> enabling explainable fraud detection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60" name="Image 0" descr="/home/claude/project_docs/fraud_distribution.png"/>
          <p:cNvPicPr/>
          <p:nvPr/>
        </p:nvPicPr>
        <p:blipFill>
          <a:blip r:embed="rId1"/>
          <a:stretch/>
        </p:blipFill>
        <p:spPr>
          <a:xfrm>
            <a:off x="4846320" y="1005840"/>
            <a:ext cx="3931560" cy="1828440"/>
          </a:xfrm>
          <a:prstGeom prst="rect">
            <a:avLst/>
          </a:prstGeom>
          <a:ln w="0">
            <a:noFill/>
          </a:ln>
        </p:spPr>
      </p:pic>
      <p:sp>
        <p:nvSpPr>
          <p:cNvPr id="61" name="Text 6"/>
          <p:cNvSpPr/>
          <p:nvPr/>
        </p:nvSpPr>
        <p:spPr>
          <a:xfrm>
            <a:off x="4846320" y="288036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18096"/>
                </a:solidFill>
                <a:latin typeface="Arial"/>
                <a:ea typeface="Arial"/>
              </a:rPr>
              <a:t>Figure: Class Distribution (99.42% legitimate vs 0.58% fraud)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1"/>
          <p:cNvSpPr/>
          <p:nvPr/>
        </p:nvSpPr>
        <p:spPr>
          <a:xfrm>
            <a:off x="457200" y="2286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"/>
                <a:ea typeface="Arial"/>
              </a:rPr>
              <a:t>2. Project Objectives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457200" y="10058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e3a5f"/>
                </a:solidFill>
                <a:latin typeface="Arial"/>
                <a:ea typeface="Arial"/>
              </a:rPr>
              <a:t>Primary Objectives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5" name="Shape 3"/>
          <p:cNvSpPr/>
          <p:nvPr/>
        </p:nvSpPr>
        <p:spPr>
          <a:xfrm>
            <a:off x="457200" y="1417320"/>
            <a:ext cx="319680" cy="319680"/>
          </a:xfrm>
          <a:prstGeom prst="ellipse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4"/>
          <p:cNvSpPr/>
          <p:nvPr/>
        </p:nvSpPr>
        <p:spPr>
          <a:xfrm>
            <a:off x="457200" y="141732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914400" y="137160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Develop neural network achieving ROC-AUC &gt; 0.99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8" name="Shape 6"/>
          <p:cNvSpPr/>
          <p:nvPr/>
        </p:nvSpPr>
        <p:spPr>
          <a:xfrm>
            <a:off x="457200" y="1920240"/>
            <a:ext cx="319680" cy="319680"/>
          </a:xfrm>
          <a:prstGeom prst="ellipse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7"/>
          <p:cNvSpPr/>
          <p:nvPr/>
        </p:nvSpPr>
        <p:spPr>
          <a:xfrm>
            <a:off x="457200" y="192024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914400" y="187452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Create FraudShield Analytics Dashboard for real-time analysis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1" name="Shape 9"/>
          <p:cNvSpPr/>
          <p:nvPr/>
        </p:nvSpPr>
        <p:spPr>
          <a:xfrm>
            <a:off x="457200" y="2423160"/>
            <a:ext cx="319680" cy="319680"/>
          </a:xfrm>
          <a:prstGeom prst="ellipse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10"/>
          <p:cNvSpPr/>
          <p:nvPr/>
        </p:nvSpPr>
        <p:spPr>
          <a:xfrm>
            <a:off x="457200" y="24231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3" name="Text 11"/>
          <p:cNvSpPr/>
          <p:nvPr/>
        </p:nvSpPr>
        <p:spPr>
          <a:xfrm>
            <a:off x="914400" y="237744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Implement interpretable feature engineering pipeline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4" name="Shape 12"/>
          <p:cNvSpPr/>
          <p:nvPr/>
        </p:nvSpPr>
        <p:spPr>
          <a:xfrm>
            <a:off x="457200" y="2926080"/>
            <a:ext cx="319680" cy="319680"/>
          </a:xfrm>
          <a:prstGeom prst="ellipse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13"/>
          <p:cNvSpPr/>
          <p:nvPr/>
        </p:nvSpPr>
        <p:spPr>
          <a:xfrm>
            <a:off x="457200" y="292608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6" name="Text 14"/>
          <p:cNvSpPr/>
          <p:nvPr/>
        </p:nvSpPr>
        <p:spPr>
          <a:xfrm>
            <a:off x="914400" y="288036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Optimize decision thresholds for business requirements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7" name="Text 15"/>
          <p:cNvSpPr/>
          <p:nvPr/>
        </p:nvSpPr>
        <p:spPr>
          <a:xfrm>
            <a:off x="4754880" y="10058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e3a5f"/>
                </a:solidFill>
                <a:latin typeface="Arial"/>
                <a:ea typeface="Arial"/>
              </a:rPr>
              <a:t>Technical Objectives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8" name="Shape 16"/>
          <p:cNvSpPr/>
          <p:nvPr/>
        </p:nvSpPr>
        <p:spPr>
          <a:xfrm>
            <a:off x="4754880" y="1417320"/>
            <a:ext cx="319680" cy="319680"/>
          </a:xfrm>
          <a:prstGeom prst="ellipse">
            <a:avLst/>
          </a:prstGeom>
          <a:solidFill>
            <a:srgbClr val="3182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17"/>
          <p:cNvSpPr/>
          <p:nvPr/>
        </p:nvSpPr>
        <p:spPr>
          <a:xfrm>
            <a:off x="4754880" y="141732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0" name="Text 18"/>
          <p:cNvSpPr/>
          <p:nvPr/>
        </p:nvSpPr>
        <p:spPr>
          <a:xfrm>
            <a:off x="5212080" y="137160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Handle extreme class imbalance (1:172 ratio)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1" name="Shape 19"/>
          <p:cNvSpPr/>
          <p:nvPr/>
        </p:nvSpPr>
        <p:spPr>
          <a:xfrm>
            <a:off x="4754880" y="1920240"/>
            <a:ext cx="319680" cy="319680"/>
          </a:xfrm>
          <a:prstGeom prst="ellipse">
            <a:avLst/>
          </a:prstGeom>
          <a:solidFill>
            <a:srgbClr val="3182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20"/>
          <p:cNvSpPr/>
          <p:nvPr/>
        </p:nvSpPr>
        <p:spPr>
          <a:xfrm>
            <a:off x="4754880" y="192024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3" name="Text 21"/>
          <p:cNvSpPr/>
          <p:nvPr/>
        </p:nvSpPr>
        <p:spPr>
          <a:xfrm>
            <a:off x="5212080" y="187452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Achieve Precision &gt; 85%, Recall &gt; 75%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4" name="Shape 22"/>
          <p:cNvSpPr/>
          <p:nvPr/>
        </p:nvSpPr>
        <p:spPr>
          <a:xfrm>
            <a:off x="4754880" y="2423160"/>
            <a:ext cx="319680" cy="319680"/>
          </a:xfrm>
          <a:prstGeom prst="ellipse">
            <a:avLst/>
          </a:prstGeom>
          <a:solidFill>
            <a:srgbClr val="3182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23"/>
          <p:cNvSpPr/>
          <p:nvPr/>
        </p:nvSpPr>
        <p:spPr>
          <a:xfrm>
            <a:off x="4754880" y="24231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6" name="Text 24"/>
          <p:cNvSpPr/>
          <p:nvPr/>
        </p:nvSpPr>
        <p:spPr>
          <a:xfrm>
            <a:off x="5212080" y="237744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Enable millisecond-level predictions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7" name="Shape 25"/>
          <p:cNvSpPr/>
          <p:nvPr/>
        </p:nvSpPr>
        <p:spPr>
          <a:xfrm>
            <a:off x="4754880" y="2926080"/>
            <a:ext cx="319680" cy="319680"/>
          </a:xfrm>
          <a:prstGeom prst="ellipse">
            <a:avLst/>
          </a:prstGeom>
          <a:solidFill>
            <a:srgbClr val="3182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26"/>
          <p:cNvSpPr/>
          <p:nvPr/>
        </p:nvSpPr>
        <p:spPr>
          <a:xfrm>
            <a:off x="4754880" y="292608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9" name="Text 27"/>
          <p:cNvSpPr/>
          <p:nvPr/>
        </p:nvSpPr>
        <p:spPr>
          <a:xfrm>
            <a:off x="5212080" y="28803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Support batch and single transaction analysis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1"/>
          <p:cNvSpPr/>
          <p:nvPr/>
        </p:nvSpPr>
        <p:spPr>
          <a:xfrm>
            <a:off x="457200" y="2286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  <a:ea typeface="Arial"/>
              </a:rPr>
              <a:t>3. Alignment with UN Sustainable Development Goals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2" name="Shape 2"/>
          <p:cNvSpPr/>
          <p:nvPr/>
        </p:nvSpPr>
        <p:spPr>
          <a:xfrm>
            <a:off x="457200" y="1097280"/>
            <a:ext cx="3931560" cy="1462680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3"/>
          <p:cNvSpPr/>
          <p:nvPr/>
        </p:nvSpPr>
        <p:spPr>
          <a:xfrm>
            <a:off x="640080" y="123444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SDG 8: Decent Work &amp; Economic Growth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4" name="Text 4"/>
          <p:cNvSpPr/>
          <p:nvPr/>
        </p:nvSpPr>
        <p:spPr>
          <a:xfrm>
            <a:off x="640080" y="1600200"/>
            <a:ext cx="3565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Protects financial institutions from fraud losses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Supports sustainable economic growth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Enables secure digital commerce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5" name="Shape 5"/>
          <p:cNvSpPr/>
          <p:nvPr/>
        </p:nvSpPr>
        <p:spPr>
          <a:xfrm>
            <a:off x="4754880" y="1097280"/>
            <a:ext cx="3931560" cy="1462680"/>
          </a:xfrm>
          <a:prstGeom prst="roundRect">
            <a:avLst>
              <a:gd name="adj" fmla="val 16667"/>
            </a:avLst>
          </a:prstGeom>
          <a:solidFill>
            <a:srgbClr val="ebf8ff"/>
          </a:solidFill>
          <a:ln w="25400">
            <a:solidFill>
              <a:srgbClr val="3182c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6"/>
          <p:cNvSpPr/>
          <p:nvPr/>
        </p:nvSpPr>
        <p:spPr>
          <a:xfrm>
            <a:off x="4937760" y="123444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182ce"/>
                </a:solidFill>
                <a:latin typeface="Arial"/>
                <a:ea typeface="Arial"/>
              </a:rPr>
              <a:t>SDG 9: Industry, Innovation &amp; Infrastructure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7" name="Text 7"/>
          <p:cNvSpPr/>
          <p:nvPr/>
        </p:nvSpPr>
        <p:spPr>
          <a:xfrm>
            <a:off x="4937760" y="1600200"/>
            <a:ext cx="3565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Applies cutting-edge deep learning technology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Builds resilient financial infrastructure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Promotes technological innovation in fintech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8" name="Shape 8"/>
          <p:cNvSpPr/>
          <p:nvPr/>
        </p:nvSpPr>
        <p:spPr>
          <a:xfrm>
            <a:off x="457200" y="2743200"/>
            <a:ext cx="3931560" cy="1462680"/>
          </a:xfrm>
          <a:prstGeom prst="roundRect">
            <a:avLst>
              <a:gd name="adj" fmla="val 16667"/>
            </a:avLst>
          </a:prstGeom>
          <a:solidFill>
            <a:srgbClr val="fff5f5"/>
          </a:solidFill>
          <a:ln w="25400">
            <a:solidFill>
              <a:srgbClr val="e53e3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9"/>
          <p:cNvSpPr/>
          <p:nvPr/>
        </p:nvSpPr>
        <p:spPr>
          <a:xfrm>
            <a:off x="640080" y="288036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53e3e"/>
                </a:solidFill>
                <a:latin typeface="Arial"/>
                <a:ea typeface="Arial"/>
              </a:rPr>
              <a:t>SDG 16: Peace, Justice &amp; Strong Institutions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0" name="Text 10"/>
          <p:cNvSpPr/>
          <p:nvPr/>
        </p:nvSpPr>
        <p:spPr>
          <a:xfrm>
            <a:off x="640080" y="3246120"/>
            <a:ext cx="3565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Combats financial crime and fraud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Strengthens institutional integrity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Supports transparent, accountable systems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1" name="Shape 11"/>
          <p:cNvSpPr/>
          <p:nvPr/>
        </p:nvSpPr>
        <p:spPr>
          <a:xfrm>
            <a:off x="4754880" y="2743200"/>
            <a:ext cx="3931560" cy="1462680"/>
          </a:xfrm>
          <a:prstGeom prst="roundRect">
            <a:avLst>
              <a:gd name="adj" fmla="val 16667"/>
            </a:avLst>
          </a:prstGeom>
          <a:solidFill>
            <a:srgbClr val="fffaf0"/>
          </a:solidFill>
          <a:ln w="25400">
            <a:solidFill>
              <a:srgbClr val="f6ad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12"/>
          <p:cNvSpPr/>
          <p:nvPr/>
        </p:nvSpPr>
        <p:spPr>
          <a:xfrm>
            <a:off x="4937760" y="288036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6ad55"/>
                </a:solidFill>
                <a:latin typeface="Arial"/>
                <a:ea typeface="Arial"/>
              </a:rPr>
              <a:t>Project Impact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3" name="Text 13"/>
          <p:cNvSpPr/>
          <p:nvPr/>
        </p:nvSpPr>
        <p:spPr>
          <a:xfrm>
            <a:off x="4937760" y="3246120"/>
            <a:ext cx="3565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~$611K estimated savings per 500K transactions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77% fraud detection rate with 0.04% false positives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Interpretable results for regulatory compliance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1"/>
          <p:cNvSpPr/>
          <p:nvPr/>
        </p:nvSpPr>
        <p:spPr>
          <a:xfrm>
            <a:off x="457200" y="2286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"/>
                <a:ea typeface="Arial"/>
              </a:rPr>
              <a:t>4. Methodology</a:t>
            </a:r>
            <a:endParaRPr b="0" lang="en-US" sz="2600" spc="-1" strike="noStrike">
              <a:latin typeface="Arial"/>
            </a:endParaRPr>
          </a:p>
        </p:txBody>
      </p:sp>
      <p:pic>
        <p:nvPicPr>
          <p:cNvPr id="106" name="Image 0" descr="/home/claude/project_docs/02_data_pipeline.png"/>
          <p:cNvPicPr/>
          <p:nvPr/>
        </p:nvPicPr>
        <p:blipFill>
          <a:blip r:embed="rId1"/>
          <a:stretch/>
        </p:blipFill>
        <p:spPr>
          <a:xfrm>
            <a:off x="274320" y="914400"/>
            <a:ext cx="8595000" cy="384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1"/>
          <p:cNvSpPr/>
          <p:nvPr/>
        </p:nvSpPr>
        <p:spPr>
          <a:xfrm>
            <a:off x="457200" y="2286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"/>
                <a:ea typeface="Arial"/>
              </a:rPr>
              <a:t>5. Neural Network Architecture</a:t>
            </a:r>
            <a:endParaRPr b="0" lang="en-US" sz="2600" spc="-1" strike="noStrike">
              <a:latin typeface="Arial"/>
            </a:endParaRPr>
          </a:p>
        </p:txBody>
      </p:sp>
      <p:pic>
        <p:nvPicPr>
          <p:cNvPr id="109" name="Image 0" descr="/home/claude/project_docs/03_nn_architecture.png"/>
          <p:cNvPicPr/>
          <p:nvPr/>
        </p:nvPicPr>
        <p:blipFill>
          <a:blip r:embed="rId1"/>
          <a:stretch/>
        </p:blipFill>
        <p:spPr>
          <a:xfrm>
            <a:off x="274320" y="914400"/>
            <a:ext cx="8595000" cy="384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1"/>
          <p:cNvSpPr/>
          <p:nvPr/>
        </p:nvSpPr>
        <p:spPr>
          <a:xfrm>
            <a:off x="457200" y="2286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"/>
                <a:ea typeface="Arial"/>
              </a:rPr>
              <a:t>6. Results: Transaction Amount Analysis</a:t>
            </a:r>
            <a:endParaRPr b="0" lang="en-US" sz="2600" spc="-1" strike="noStrike">
              <a:latin typeface="Arial"/>
            </a:endParaRPr>
          </a:p>
        </p:txBody>
      </p:sp>
      <p:pic>
        <p:nvPicPr>
          <p:cNvPr id="112" name="Image 0" descr="/home/claude/project_docs/amount_analysis.png"/>
          <p:cNvPicPr/>
          <p:nvPr/>
        </p:nvPicPr>
        <p:blipFill>
          <a:blip r:embed="rId1"/>
          <a:stretch/>
        </p:blipFill>
        <p:spPr>
          <a:xfrm>
            <a:off x="274320" y="914400"/>
            <a:ext cx="8595000" cy="3108600"/>
          </a:xfrm>
          <a:prstGeom prst="rect">
            <a:avLst/>
          </a:prstGeom>
          <a:ln w="0">
            <a:noFill/>
          </a:ln>
        </p:spPr>
      </p:pic>
      <p:sp>
        <p:nvSpPr>
          <p:cNvPr id="113" name="Text 2"/>
          <p:cNvSpPr/>
          <p:nvPr/>
        </p:nvSpPr>
        <p:spPr>
          <a:xfrm>
            <a:off x="457200" y="41148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3a5f"/>
                </a:solidFill>
                <a:latin typeface="Arial"/>
                <a:ea typeface="Arial"/>
              </a:rPr>
              <a:t>Key Finding: Fraudulent transactions average $531.32 vs $67.67 for legitimate (8x higher)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1"/>
          <p:cNvSpPr/>
          <p:nvPr/>
        </p:nvSpPr>
        <p:spPr>
          <a:xfrm>
            <a:off x="457200" y="2286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"/>
                <a:ea typeface="Arial"/>
              </a:rPr>
              <a:t>7. Results: Temporal Patterns</a:t>
            </a:r>
            <a:endParaRPr b="0" lang="en-US" sz="2600" spc="-1" strike="noStrike">
              <a:latin typeface="Arial"/>
            </a:endParaRPr>
          </a:p>
        </p:txBody>
      </p:sp>
      <p:pic>
        <p:nvPicPr>
          <p:cNvPr id="116" name="Image 0" descr="/home/claude/project_docs/temporal_analysis.png"/>
          <p:cNvPicPr/>
          <p:nvPr/>
        </p:nvPicPr>
        <p:blipFill>
          <a:blip r:embed="rId1"/>
          <a:stretch/>
        </p:blipFill>
        <p:spPr>
          <a:xfrm>
            <a:off x="274320" y="914400"/>
            <a:ext cx="8595000" cy="3108600"/>
          </a:xfrm>
          <a:prstGeom prst="rect">
            <a:avLst/>
          </a:prstGeom>
          <a:ln w="0">
            <a:noFill/>
          </a:ln>
        </p:spPr>
      </p:pic>
      <p:sp>
        <p:nvSpPr>
          <p:cNvPr id="117" name="Text 2"/>
          <p:cNvSpPr/>
          <p:nvPr/>
        </p:nvSpPr>
        <p:spPr>
          <a:xfrm>
            <a:off x="457200" y="41148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3a5f"/>
                </a:solidFill>
                <a:latin typeface="Arial"/>
                <a:ea typeface="Arial"/>
              </a:rPr>
              <a:t>Key Finding: Late-night hours (10PM-12AM) show 5x higher fraud rates (2.84% vs 0.58% average)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1"/>
          <p:cNvSpPr/>
          <p:nvPr/>
        </p:nvSpPr>
        <p:spPr>
          <a:xfrm>
            <a:off x="457200" y="2286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"/>
                <a:ea typeface="Arial"/>
              </a:rPr>
              <a:t>8. Results: Category Analysis</a:t>
            </a:r>
            <a:endParaRPr b="0" lang="en-US" sz="2600" spc="-1" strike="noStrike">
              <a:latin typeface="Arial"/>
            </a:endParaRPr>
          </a:p>
        </p:txBody>
      </p:sp>
      <p:pic>
        <p:nvPicPr>
          <p:cNvPr id="120" name="Image 0" descr="/home/claude/project_docs/category_analysis.png"/>
          <p:cNvPicPr/>
          <p:nvPr/>
        </p:nvPicPr>
        <p:blipFill>
          <a:blip r:embed="rId1"/>
          <a:stretch/>
        </p:blipFill>
        <p:spPr>
          <a:xfrm>
            <a:off x="457200" y="1005840"/>
            <a:ext cx="8229240" cy="2559960"/>
          </a:xfrm>
          <a:prstGeom prst="rect">
            <a:avLst/>
          </a:prstGeom>
          <a:ln w="0">
            <a:noFill/>
          </a:ln>
        </p:spPr>
      </p:pic>
      <p:sp>
        <p:nvSpPr>
          <p:cNvPr id="121" name="Text 2"/>
          <p:cNvSpPr/>
          <p:nvPr/>
        </p:nvSpPr>
        <p:spPr>
          <a:xfrm>
            <a:off x="457200" y="3657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3a5f"/>
                </a:solidFill>
                <a:latin typeface="Arial"/>
                <a:ea typeface="Arial"/>
              </a:rPr>
              <a:t>Key Finding: Online shopping categories show 3x higher fraud rates (shopping_net: 1.76%)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1"/>
          <p:cNvSpPr/>
          <p:nvPr/>
        </p:nvSpPr>
        <p:spPr>
          <a:xfrm>
            <a:off x="457200" y="2286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"/>
                <a:ea typeface="Arial"/>
              </a:rPr>
              <a:t>9. Model Performance: ROC &amp; PR Curves</a:t>
            </a:r>
            <a:endParaRPr b="0" lang="en-US" sz="2600" spc="-1" strike="noStrike">
              <a:latin typeface="Arial"/>
            </a:endParaRPr>
          </a:p>
        </p:txBody>
      </p:sp>
      <p:pic>
        <p:nvPicPr>
          <p:cNvPr id="124" name="Image 0" descr="/home/claude/project_docs/roc_pr_curves.png"/>
          <p:cNvPicPr/>
          <p:nvPr/>
        </p:nvPicPr>
        <p:blipFill>
          <a:blip r:embed="rId1"/>
          <a:stretch/>
        </p:blipFill>
        <p:spPr>
          <a:xfrm>
            <a:off x="457200" y="1005840"/>
            <a:ext cx="8229240" cy="2925720"/>
          </a:xfrm>
          <a:prstGeom prst="rect">
            <a:avLst/>
          </a:prstGeom>
          <a:ln w="0">
            <a:noFill/>
          </a:ln>
        </p:spPr>
      </p:pic>
      <p:sp>
        <p:nvSpPr>
          <p:cNvPr id="125" name="Shape 2"/>
          <p:cNvSpPr/>
          <p:nvPr/>
        </p:nvSpPr>
        <p:spPr>
          <a:xfrm>
            <a:off x="1371600" y="3977640"/>
            <a:ext cx="2285640" cy="63972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3"/>
          <p:cNvSpPr/>
          <p:nvPr/>
        </p:nvSpPr>
        <p:spPr>
          <a:xfrm>
            <a:off x="1371600" y="3977640"/>
            <a:ext cx="2285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ROC-AUC: 0.9969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27" name="Shape 4"/>
          <p:cNvSpPr/>
          <p:nvPr/>
        </p:nvSpPr>
        <p:spPr>
          <a:xfrm>
            <a:off x="5486400" y="3977640"/>
            <a:ext cx="2285640" cy="639720"/>
          </a:xfrm>
          <a:prstGeom prst="roundRect">
            <a:avLst>
              <a:gd name="adj" fmla="val 16667"/>
            </a:avLst>
          </a:prstGeom>
          <a:solidFill>
            <a:srgbClr val="3182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5"/>
          <p:cNvSpPr/>
          <p:nvPr/>
        </p:nvSpPr>
        <p:spPr>
          <a:xfrm>
            <a:off x="5486400" y="3977640"/>
            <a:ext cx="2285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PR-AUC: 0.8712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1"/>
          <p:cNvSpPr/>
          <p:nvPr/>
        </p:nvSpPr>
        <p:spPr>
          <a:xfrm>
            <a:off x="457200" y="2286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"/>
                <a:ea typeface="Arial"/>
              </a:rPr>
              <a:t>10. Model Performance: Confusion Matrix</a:t>
            </a:r>
            <a:endParaRPr b="0" lang="en-US" sz="2600" spc="-1" strike="noStrike">
              <a:latin typeface="Arial"/>
            </a:endParaRPr>
          </a:p>
        </p:txBody>
      </p:sp>
      <p:pic>
        <p:nvPicPr>
          <p:cNvPr id="131" name="Image 0" descr="/home/claude/project_docs/confusion_matrix.png"/>
          <p:cNvPicPr/>
          <p:nvPr/>
        </p:nvPicPr>
        <p:blipFill>
          <a:blip r:embed="rId1"/>
          <a:stretch/>
        </p:blipFill>
        <p:spPr>
          <a:xfrm>
            <a:off x="457200" y="914400"/>
            <a:ext cx="8229240" cy="2559960"/>
          </a:xfrm>
          <a:prstGeom prst="rect">
            <a:avLst/>
          </a:prstGeom>
          <a:ln w="0">
            <a:noFill/>
          </a:ln>
        </p:spPr>
      </p:pic>
      <p:sp>
        <p:nvSpPr>
          <p:cNvPr id="132" name="Text 2"/>
          <p:cNvSpPr/>
          <p:nvPr/>
        </p:nvSpPr>
        <p:spPr>
          <a:xfrm>
            <a:off x="457200" y="3566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e3a5f"/>
                </a:solidFill>
                <a:latin typeface="Arial"/>
                <a:ea typeface="Arial"/>
              </a:rPr>
              <a:t>At Threshold = 0.90: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457200" y="38862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• </a:t>
            </a: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True Positives: 1,649 frauds caught (76.88% recall)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4" name="Text 4"/>
          <p:cNvSpPr/>
          <p:nvPr/>
        </p:nvSpPr>
        <p:spPr>
          <a:xfrm>
            <a:off x="4572000" y="38862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• </a:t>
            </a: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False Positives: Only 230 false alarms (0.04% FPR)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5" name="Text 5"/>
          <p:cNvSpPr/>
          <p:nvPr/>
        </p:nvSpPr>
        <p:spPr>
          <a:xfrm>
            <a:off x="457200" y="41605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• </a:t>
            </a: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Precision: 87.76% of flagged transactions are actual fraud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4572000" y="41605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• </a:t>
            </a: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F1 Score: 0.8196 (optimal balance)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1"/>
          <p:cNvSpPr/>
          <p:nvPr/>
        </p:nvSpPr>
        <p:spPr>
          <a:xfrm>
            <a:off x="457200" y="2286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"/>
                <a:ea typeface="Arial"/>
              </a:rPr>
              <a:t>11. Business Impact Analysis</a:t>
            </a:r>
            <a:endParaRPr b="0" lang="en-US" sz="2600" spc="-1" strike="noStrike">
              <a:latin typeface="Arial"/>
            </a:endParaRPr>
          </a:p>
        </p:txBody>
      </p:sp>
      <p:graphicFrame>
        <p:nvGraphicFramePr>
          <p:cNvPr id="139" name="Table 0"/>
          <p:cNvGraphicFramePr/>
          <p:nvPr/>
        </p:nvGraphicFramePr>
        <p:xfrm>
          <a:off x="457200" y="1097280"/>
          <a:ext cx="8229240" cy="228564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2860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a5568"/>
                          </a:solidFill>
                          <a:latin typeface="Arial"/>
                          <a:ea typeface="Arial"/>
                        </a:rPr>
                        <a:t>Metric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bd5e0"/>
                      </a:solidFill>
                    </a:lnL>
                    <a:lnR w="12240">
                      <a:solidFill>
                        <a:srgbClr val="cbd5e0"/>
                      </a:solidFill>
                    </a:lnR>
                    <a:lnT w="12240">
                      <a:solidFill>
                        <a:srgbClr val="cbd5e0"/>
                      </a:solidFill>
                    </a:lnT>
                    <a:lnB w="12240">
                      <a:solidFill>
                        <a:srgbClr val="cbd5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a5568"/>
                          </a:solidFill>
                          <a:latin typeface="Arial"/>
                          <a:ea typeface="Arial"/>
                        </a:rPr>
                        <a:t>Value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bd5e0"/>
                      </a:solidFill>
                    </a:lnL>
                    <a:lnR w="12240">
                      <a:solidFill>
                        <a:srgbClr val="cbd5e0"/>
                      </a:solidFill>
                    </a:lnR>
                    <a:lnT w="12240">
                      <a:solidFill>
                        <a:srgbClr val="cbd5e0"/>
                      </a:solidFill>
                    </a:lnT>
                    <a:lnB w="12240">
                      <a:solidFill>
                        <a:srgbClr val="cbd5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a5568"/>
                          </a:solidFill>
                          <a:latin typeface="Arial"/>
                          <a:ea typeface="Arial"/>
                        </a:rPr>
                        <a:t>Impact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bd5e0"/>
                      </a:solidFill>
                    </a:lnL>
                    <a:lnR w="12240">
                      <a:solidFill>
                        <a:srgbClr val="cbd5e0"/>
                      </a:solidFill>
                    </a:lnR>
                    <a:lnT w="12240">
                      <a:solidFill>
                        <a:srgbClr val="cbd5e0"/>
                      </a:solidFill>
                    </a:lnT>
                    <a:lnB w="12240">
                      <a:solidFill>
                        <a:srgbClr val="cbd5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a5568"/>
                          </a:solidFill>
                          <a:latin typeface="Arial"/>
                          <a:ea typeface="Arial"/>
                        </a:rPr>
                        <a:t>Fraud Prevented (TP × $531)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bd5e0"/>
                      </a:solidFill>
                    </a:lnL>
                    <a:lnR w="12240">
                      <a:solidFill>
                        <a:srgbClr val="cbd5e0"/>
                      </a:solidFill>
                    </a:lnR>
                    <a:lnT w="12240">
                      <a:solidFill>
                        <a:srgbClr val="cbd5e0"/>
                      </a:solidFill>
                    </a:lnT>
                    <a:lnB w="12240">
                      <a:solidFill>
                        <a:srgbClr val="cbd5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a5568"/>
                          </a:solidFill>
                          <a:latin typeface="Arial"/>
                          <a:ea typeface="Arial"/>
                        </a:rPr>
                        <a:t>1,649 × $531.32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bd5e0"/>
                      </a:solidFill>
                    </a:lnL>
                    <a:lnR w="12240">
                      <a:solidFill>
                        <a:srgbClr val="cbd5e0"/>
                      </a:solidFill>
                    </a:lnR>
                    <a:lnT w="12240">
                      <a:solidFill>
                        <a:srgbClr val="cbd5e0"/>
                      </a:solidFill>
                    </a:lnT>
                    <a:lnB w="12240">
                      <a:solidFill>
                        <a:srgbClr val="cbd5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a5568"/>
                          </a:solidFill>
                          <a:latin typeface="Arial"/>
                          <a:ea typeface="Arial"/>
                        </a:rPr>
                        <a:t>+$876,147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bd5e0"/>
                      </a:solidFill>
                    </a:lnL>
                    <a:lnR w="12240">
                      <a:solidFill>
                        <a:srgbClr val="cbd5e0"/>
                      </a:solidFill>
                    </a:lnR>
                    <a:lnT w="12240">
                      <a:solidFill>
                        <a:srgbClr val="cbd5e0"/>
                      </a:solidFill>
                    </a:lnT>
                    <a:lnB w="12240">
                      <a:solidFill>
                        <a:srgbClr val="cbd5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a5568"/>
                          </a:solidFill>
                          <a:latin typeface="Arial"/>
                          <a:ea typeface="Arial"/>
                        </a:rPr>
                        <a:t>Fraud Missed (FN × $531)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bd5e0"/>
                      </a:solidFill>
                    </a:lnL>
                    <a:lnR w="12240">
                      <a:solidFill>
                        <a:srgbClr val="cbd5e0"/>
                      </a:solidFill>
                    </a:lnR>
                    <a:lnT w="12240">
                      <a:solidFill>
                        <a:srgbClr val="cbd5e0"/>
                      </a:solidFill>
                    </a:lnT>
                    <a:lnB w="12240">
                      <a:solidFill>
                        <a:srgbClr val="cbd5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a5568"/>
                          </a:solidFill>
                          <a:latin typeface="Arial"/>
                          <a:ea typeface="Arial"/>
                        </a:rPr>
                        <a:t>496 × $531.32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bd5e0"/>
                      </a:solidFill>
                    </a:lnL>
                    <a:lnR w="12240">
                      <a:solidFill>
                        <a:srgbClr val="cbd5e0"/>
                      </a:solidFill>
                    </a:lnR>
                    <a:lnT w="12240">
                      <a:solidFill>
                        <a:srgbClr val="cbd5e0"/>
                      </a:solidFill>
                    </a:lnT>
                    <a:lnB w="12240">
                      <a:solidFill>
                        <a:srgbClr val="cbd5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a5568"/>
                          </a:solidFill>
                          <a:latin typeface="Arial"/>
                          <a:ea typeface="Arial"/>
                        </a:rPr>
                        <a:t>-$263,535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bd5e0"/>
                      </a:solidFill>
                    </a:lnL>
                    <a:lnR w="12240">
                      <a:solidFill>
                        <a:srgbClr val="cbd5e0"/>
                      </a:solidFill>
                    </a:lnR>
                    <a:lnT w="12240">
                      <a:solidFill>
                        <a:srgbClr val="cbd5e0"/>
                      </a:solidFill>
                    </a:lnT>
                    <a:lnB w="12240">
                      <a:solidFill>
                        <a:srgbClr val="cbd5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a5568"/>
                          </a:solidFill>
                          <a:latin typeface="Arial"/>
                          <a:ea typeface="Arial"/>
                        </a:rPr>
                        <a:t>Investigation Cost (Flagged × $5)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bd5e0"/>
                      </a:solidFill>
                    </a:lnL>
                    <a:lnR w="12240">
                      <a:solidFill>
                        <a:srgbClr val="cbd5e0"/>
                      </a:solidFill>
                    </a:lnR>
                    <a:lnT w="12240">
                      <a:solidFill>
                        <a:srgbClr val="cbd5e0"/>
                      </a:solidFill>
                    </a:lnT>
                    <a:lnB w="12240">
                      <a:solidFill>
                        <a:srgbClr val="cbd5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a5568"/>
                          </a:solidFill>
                          <a:latin typeface="Arial"/>
                          <a:ea typeface="Arial"/>
                        </a:rPr>
                        <a:t>1,879 × $5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bd5e0"/>
                      </a:solidFill>
                    </a:lnL>
                    <a:lnR w="12240">
                      <a:solidFill>
                        <a:srgbClr val="cbd5e0"/>
                      </a:solidFill>
                    </a:lnR>
                    <a:lnT w="12240">
                      <a:solidFill>
                        <a:srgbClr val="cbd5e0"/>
                      </a:solidFill>
                    </a:lnT>
                    <a:lnB w="12240">
                      <a:solidFill>
                        <a:srgbClr val="cbd5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a5568"/>
                          </a:solidFill>
                          <a:latin typeface="Arial"/>
                          <a:ea typeface="Arial"/>
                        </a:rPr>
                        <a:t>-$1,150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bd5e0"/>
                      </a:solidFill>
                    </a:lnL>
                    <a:lnR w="12240">
                      <a:solidFill>
                        <a:srgbClr val="cbd5e0"/>
                      </a:solidFill>
                    </a:lnR>
                    <a:lnT w="12240">
                      <a:solidFill>
                        <a:srgbClr val="cbd5e0"/>
                      </a:solidFill>
                    </a:lnT>
                    <a:lnB w="12240">
                      <a:solidFill>
                        <a:srgbClr val="cbd5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a5568"/>
                          </a:solidFill>
                          <a:latin typeface="Arial"/>
                          <a:ea typeface="Arial"/>
                        </a:rPr>
                        <a:t>NET BENEFIT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bd5e0"/>
                      </a:solidFill>
                    </a:lnL>
                    <a:lnR w="12240">
                      <a:solidFill>
                        <a:srgbClr val="cbd5e0"/>
                      </a:solidFill>
                    </a:lnR>
                    <a:lnT w="12240">
                      <a:solidFill>
                        <a:srgbClr val="cbd5e0"/>
                      </a:solidFill>
                    </a:lnT>
                    <a:lnB w="12240">
                      <a:solidFill>
                        <a:srgbClr val="cbd5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ctr" marL="91440" marR="91440">
                    <a:lnL w="12240">
                      <a:solidFill>
                        <a:srgbClr val="cbd5e0"/>
                      </a:solidFill>
                    </a:lnL>
                    <a:lnR w="12240">
                      <a:solidFill>
                        <a:srgbClr val="cbd5e0"/>
                      </a:solidFill>
                    </a:lnR>
                    <a:lnT w="12240">
                      <a:solidFill>
                        <a:srgbClr val="cbd5e0"/>
                      </a:solidFill>
                    </a:lnT>
                    <a:lnB w="12240">
                      <a:solidFill>
                        <a:srgbClr val="cbd5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4a5568"/>
                          </a:solidFill>
                          <a:latin typeface="Arial"/>
                          <a:ea typeface="Arial"/>
                        </a:rPr>
                        <a:t>$611,462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bd5e0"/>
                      </a:solidFill>
                    </a:lnL>
                    <a:lnR w="12240">
                      <a:solidFill>
                        <a:srgbClr val="cbd5e0"/>
                      </a:solidFill>
                    </a:lnR>
                    <a:lnT w="12240">
                      <a:solidFill>
                        <a:srgbClr val="cbd5e0"/>
                      </a:solidFill>
                    </a:lnT>
                    <a:lnB w="12240">
                      <a:solidFill>
                        <a:srgbClr val="cbd5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0" name="Shape 2"/>
          <p:cNvSpPr/>
          <p:nvPr/>
        </p:nvSpPr>
        <p:spPr>
          <a:xfrm>
            <a:off x="457200" y="1097280"/>
            <a:ext cx="8229240" cy="45684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3"/>
          <p:cNvSpPr/>
          <p:nvPr/>
        </p:nvSpPr>
        <p:spPr>
          <a:xfrm>
            <a:off x="457200" y="109728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Metric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2" name="Text 4"/>
          <p:cNvSpPr/>
          <p:nvPr/>
        </p:nvSpPr>
        <p:spPr>
          <a:xfrm>
            <a:off x="3657600" y="109728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Value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3" name="Text 5"/>
          <p:cNvSpPr/>
          <p:nvPr/>
        </p:nvSpPr>
        <p:spPr>
          <a:xfrm>
            <a:off x="6400800" y="109728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Impact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4" name="Shape 6"/>
          <p:cNvSpPr/>
          <p:nvPr/>
        </p:nvSpPr>
        <p:spPr>
          <a:xfrm>
            <a:off x="2743200" y="3657600"/>
            <a:ext cx="3657240" cy="82260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7"/>
          <p:cNvSpPr/>
          <p:nvPr/>
        </p:nvSpPr>
        <p:spPr>
          <a:xfrm>
            <a:off x="2743200" y="3657600"/>
            <a:ext cx="3657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  <a:ea typeface="Arial"/>
              </a:rPr>
              <a:t>Net Benefit: $611,462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6" name="Text 8"/>
          <p:cNvSpPr/>
          <p:nvPr/>
        </p:nvSpPr>
        <p:spPr>
          <a:xfrm>
            <a:off x="2743200" y="44348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718096"/>
                </a:solidFill>
                <a:latin typeface="Arial"/>
                <a:ea typeface="Arial"/>
              </a:rPr>
              <a:t>Per 555,719 test transactions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1"/>
          <p:cNvSpPr/>
          <p:nvPr/>
        </p:nvSpPr>
        <p:spPr>
          <a:xfrm>
            <a:off x="457200" y="2286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"/>
                <a:ea typeface="Arial"/>
              </a:rPr>
              <a:t>12. Key Results Summary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49" name="Shape 2"/>
          <p:cNvSpPr/>
          <p:nvPr/>
        </p:nvSpPr>
        <p:spPr>
          <a:xfrm>
            <a:off x="640080" y="1097280"/>
            <a:ext cx="2468520" cy="109692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3"/>
          <p:cNvSpPr/>
          <p:nvPr/>
        </p:nvSpPr>
        <p:spPr>
          <a:xfrm>
            <a:off x="640080" y="114300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  <a:ea typeface="Arial"/>
              </a:rPr>
              <a:t>0.9969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640080" y="17373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ROC-AUC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2" name="Shape 5"/>
          <p:cNvSpPr/>
          <p:nvPr/>
        </p:nvSpPr>
        <p:spPr>
          <a:xfrm>
            <a:off x="3383280" y="1097280"/>
            <a:ext cx="2468520" cy="1096920"/>
          </a:xfrm>
          <a:prstGeom prst="roundRect">
            <a:avLst>
              <a:gd name="adj" fmla="val 16667"/>
            </a:avLst>
          </a:prstGeom>
          <a:solidFill>
            <a:srgbClr val="3182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6"/>
          <p:cNvSpPr/>
          <p:nvPr/>
        </p:nvSpPr>
        <p:spPr>
          <a:xfrm>
            <a:off x="3383280" y="114300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  <a:ea typeface="Arial"/>
              </a:rPr>
              <a:t>0.8712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3383280" y="17373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PR-AUC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5" name="Shape 8"/>
          <p:cNvSpPr/>
          <p:nvPr/>
        </p:nvSpPr>
        <p:spPr>
          <a:xfrm>
            <a:off x="6126480" y="1097280"/>
            <a:ext cx="2468520" cy="1096920"/>
          </a:xfrm>
          <a:prstGeom prst="roundRect">
            <a:avLst>
              <a:gd name="adj" fmla="val 16667"/>
            </a:avLst>
          </a:prstGeom>
          <a:solidFill>
            <a:srgbClr val="2c52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9"/>
          <p:cNvSpPr/>
          <p:nvPr/>
        </p:nvSpPr>
        <p:spPr>
          <a:xfrm>
            <a:off x="6126480" y="114300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  <a:ea typeface="Arial"/>
              </a:rPr>
              <a:t>87.76%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7" name="Text 10"/>
          <p:cNvSpPr/>
          <p:nvPr/>
        </p:nvSpPr>
        <p:spPr>
          <a:xfrm>
            <a:off x="6126480" y="17373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Precision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8" name="Shape 11"/>
          <p:cNvSpPr/>
          <p:nvPr/>
        </p:nvSpPr>
        <p:spPr>
          <a:xfrm>
            <a:off x="640080" y="2377440"/>
            <a:ext cx="2468520" cy="1096920"/>
          </a:xfrm>
          <a:prstGeom prst="roundRect">
            <a:avLst>
              <a:gd name="adj" fmla="val 16667"/>
            </a:avLst>
          </a:prstGeom>
          <a:solidFill>
            <a:srgbClr val="f6ad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12"/>
          <p:cNvSpPr/>
          <p:nvPr/>
        </p:nvSpPr>
        <p:spPr>
          <a:xfrm>
            <a:off x="640080" y="242316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  <a:ea typeface="Arial"/>
              </a:rPr>
              <a:t>76.88%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0" name="Text 13"/>
          <p:cNvSpPr/>
          <p:nvPr/>
        </p:nvSpPr>
        <p:spPr>
          <a:xfrm>
            <a:off x="640080" y="30175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Recall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1" name="Shape 14"/>
          <p:cNvSpPr/>
          <p:nvPr/>
        </p:nvSpPr>
        <p:spPr>
          <a:xfrm>
            <a:off x="3383280" y="2377440"/>
            <a:ext cx="2468520" cy="109692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15"/>
          <p:cNvSpPr/>
          <p:nvPr/>
        </p:nvSpPr>
        <p:spPr>
          <a:xfrm>
            <a:off x="3383280" y="242316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  <a:ea typeface="Arial"/>
              </a:rPr>
              <a:t>0.8196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3" name="Text 16"/>
          <p:cNvSpPr/>
          <p:nvPr/>
        </p:nvSpPr>
        <p:spPr>
          <a:xfrm>
            <a:off x="3383280" y="30175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F1 Score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4" name="Shape 17"/>
          <p:cNvSpPr/>
          <p:nvPr/>
        </p:nvSpPr>
        <p:spPr>
          <a:xfrm>
            <a:off x="6126480" y="2377440"/>
            <a:ext cx="2468520" cy="109692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18"/>
          <p:cNvSpPr/>
          <p:nvPr/>
        </p:nvSpPr>
        <p:spPr>
          <a:xfrm>
            <a:off x="6126480" y="242316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  <a:ea typeface="Arial"/>
              </a:rPr>
              <a:t>0.04%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6" name="Text 19"/>
          <p:cNvSpPr/>
          <p:nvPr/>
        </p:nvSpPr>
        <p:spPr>
          <a:xfrm>
            <a:off x="6126480" y="30175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FPR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7" name="Text 20"/>
          <p:cNvSpPr/>
          <p:nvPr/>
        </p:nvSpPr>
        <p:spPr>
          <a:xfrm>
            <a:off x="457200" y="37490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e3a5f"/>
                </a:solidFill>
                <a:latin typeface="Arial"/>
                <a:ea typeface="Arial"/>
              </a:rPr>
              <a:t>Key Insights: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8" name="Text 21"/>
          <p:cNvSpPr/>
          <p:nvPr/>
        </p:nvSpPr>
        <p:spPr>
          <a:xfrm>
            <a:off x="457200" y="406908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Fraudulent transactions 8x larger than legitimate ($531 vs $68)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69" name="Text 22"/>
          <p:cNvSpPr/>
          <p:nvPr/>
        </p:nvSpPr>
        <p:spPr>
          <a:xfrm>
            <a:off x="4572000" y="406908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Late-night hours show 5x higher fraud rates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70" name="Text 23"/>
          <p:cNvSpPr/>
          <p:nvPr/>
        </p:nvSpPr>
        <p:spPr>
          <a:xfrm>
            <a:off x="457200" y="43434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Online shopping categories most vulnerable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71" name="Text 24"/>
          <p:cNvSpPr/>
          <p:nvPr/>
        </p:nvSpPr>
        <p:spPr>
          <a:xfrm>
            <a:off x="4572000" y="43434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• </a:t>
            </a:r>
            <a:r>
              <a:rPr b="0" lang="en-US" sz="1100" spc="-1" strike="noStrike">
                <a:solidFill>
                  <a:srgbClr val="4a5568"/>
                </a:solidFill>
                <a:latin typeface="Arial"/>
                <a:ea typeface="Arial"/>
              </a:rPr>
              <a:t>Estimated $611,462 net benefit per 500K transactions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1"/>
          <p:cNvSpPr/>
          <p:nvPr/>
        </p:nvSpPr>
        <p:spPr>
          <a:xfrm>
            <a:off x="457200" y="2286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"/>
                <a:ea typeface="Arial"/>
              </a:rPr>
              <a:t>13. Conclusion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457200" y="10058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7ae60"/>
                </a:solidFill>
                <a:latin typeface="Arial"/>
                <a:ea typeface="Arial"/>
              </a:rPr>
              <a:t>Achievements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5" name="Text 3"/>
          <p:cNvSpPr/>
          <p:nvPr/>
        </p:nvSpPr>
        <p:spPr>
          <a:xfrm>
            <a:off x="457200" y="13716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✓ </a:t>
            </a: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Near-perfect discrimination (ROC-AUC 0.9969)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6" name="Text 4"/>
          <p:cNvSpPr/>
          <p:nvPr/>
        </p:nvSpPr>
        <p:spPr>
          <a:xfrm>
            <a:off x="457200" y="178308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✓ </a:t>
            </a: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Interpretable features enabling business insights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7" name="Text 5"/>
          <p:cNvSpPr/>
          <p:nvPr/>
        </p:nvSpPr>
        <p:spPr>
          <a:xfrm>
            <a:off x="457200" y="219456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✓ </a:t>
            </a: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Practical deployment with FraudShield Dashboard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457200" y="260604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✓ </a:t>
            </a: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Comprehensive threshold optimization for flexibility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4754880" y="10058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182ce"/>
                </a:solidFill>
                <a:latin typeface="Arial"/>
                <a:ea typeface="Arial"/>
              </a:rPr>
              <a:t>Future Work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0" name="Text 8"/>
          <p:cNvSpPr/>
          <p:nvPr/>
        </p:nvSpPr>
        <p:spPr>
          <a:xfrm>
            <a:off x="4754880" y="137160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→ </a:t>
            </a: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LSTM/Transformer for sequential patterns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1" name="Text 9"/>
          <p:cNvSpPr/>
          <p:nvPr/>
        </p:nvSpPr>
        <p:spPr>
          <a:xfrm>
            <a:off x="4754880" y="178308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→ </a:t>
            </a: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Graph Neural Networks for fraud rings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2" name="Text 10"/>
          <p:cNvSpPr/>
          <p:nvPr/>
        </p:nvSpPr>
        <p:spPr>
          <a:xfrm>
            <a:off x="4754880" y="219456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→ </a:t>
            </a: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SHAP/LIME for explainability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3" name="Text 11"/>
          <p:cNvSpPr/>
          <p:nvPr/>
        </p:nvSpPr>
        <p:spPr>
          <a:xfrm>
            <a:off x="4754880" y="260604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→ </a:t>
            </a:r>
            <a:r>
              <a:rPr b="0" lang="en-US" sz="1200" spc="-1" strike="noStrike">
                <a:solidFill>
                  <a:srgbClr val="4a5568"/>
                </a:solidFill>
                <a:latin typeface="Arial"/>
                <a:ea typeface="Arial"/>
              </a:rPr>
              <a:t>Real-time concept drift detection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4" name="Shape 12"/>
          <p:cNvSpPr/>
          <p:nvPr/>
        </p:nvSpPr>
        <p:spPr>
          <a:xfrm>
            <a:off x="457200" y="3383280"/>
            <a:ext cx="8229240" cy="1096920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Text 13"/>
          <p:cNvSpPr/>
          <p:nvPr/>
        </p:nvSpPr>
        <p:spPr>
          <a:xfrm>
            <a:off x="640080" y="3474720"/>
            <a:ext cx="7863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e3a5f"/>
                </a:solidFill>
                <a:latin typeface="Arial"/>
                <a:ea typeface="Arial"/>
              </a:rPr>
              <a:t>"Interpretable transaction features can support fraud detection performance competitive with anonymized alternatives - achieving 0.9969 ROC-AUC while enabling genuine understanding of fraud mechanisms."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1"/>
          <p:cNvSpPr/>
          <p:nvPr/>
        </p:nvSpPr>
        <p:spPr>
          <a:xfrm>
            <a:off x="457200" y="16459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Thank You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188" name="Shape 2"/>
          <p:cNvSpPr/>
          <p:nvPr/>
        </p:nvSpPr>
        <p:spPr>
          <a:xfrm>
            <a:off x="3657600" y="2468880"/>
            <a:ext cx="1828440" cy="5436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3"/>
          <p:cNvSpPr/>
          <p:nvPr/>
        </p:nvSpPr>
        <p:spPr>
          <a:xfrm>
            <a:off x="457200" y="2651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a0aec0"/>
                </a:solidFill>
                <a:latin typeface="Arial"/>
                <a:ea typeface="Arial"/>
              </a:rPr>
              <a:t>Questions?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0" name="Text 4"/>
          <p:cNvSpPr/>
          <p:nvPr/>
        </p:nvSpPr>
        <p:spPr>
          <a:xfrm>
            <a:off x="457200" y="33832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Muhammad Ali Tahir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91" name="Text 5"/>
          <p:cNvSpPr/>
          <p:nvPr/>
        </p:nvSpPr>
        <p:spPr>
          <a:xfrm>
            <a:off x="457200" y="37490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0aec0"/>
                </a:solidFill>
                <a:latin typeface="Arial"/>
                <a:ea typeface="Arial"/>
              </a:rPr>
              <a:t>MS Data Science | Superior University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92" name="Text 6"/>
          <p:cNvSpPr/>
          <p:nvPr/>
        </p:nvSpPr>
        <p:spPr>
          <a:xfrm>
            <a:off x="457200" y="4114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0aec0"/>
                </a:solidFill>
                <a:latin typeface="Arial"/>
                <a:ea typeface="Arial"/>
              </a:rPr>
              <a:t>Supervisor: Mr. Talha Nadeem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2026-01-11T07:49:10Z</dcterms:created>
  <dc:creator>Muhammad Ali Tahir</dc:creator>
  <dc:description/>
  <dc:language>en-US</dc:language>
  <cp:lastModifiedBy/>
  <dcterms:modified xsi:type="dcterms:W3CDTF">2026-01-11T17:22:11Z</dcterms:modified>
  <cp:revision>2</cp:revision>
  <dc:subject>MS Data Science Project</dc:subject>
  <dc:title>FraudShield Analytics - Credit Card Fraud Detection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